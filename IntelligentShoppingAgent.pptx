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4" r:id="rId5"/>
    <p:sldId id="285" r:id="rId6"/>
    <p:sldId id="262" r:id="rId7"/>
    <p:sldId id="264" r:id="rId8"/>
    <p:sldId id="278" r:id="rId9"/>
    <p:sldId id="286" r:id="rId10"/>
    <p:sldId id="287" r:id="rId11"/>
    <p:sldId id="288" r:id="rId12"/>
    <p:sldId id="280"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5" d="100"/>
          <a:sy n="85" d="100"/>
        </p:scale>
        <p:origin x="74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11324470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smtClean="0"/>
                        <a:t>Shaikh</a:t>
                      </a:r>
                      <a:r>
                        <a:rPr lang="en-US" baseline="0" dirty="0" smtClean="0"/>
                        <a:t> Saminabano Ayyub</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saminashaikh1310@gmail.com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9834580841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102321" y="1415179"/>
            <a:ext cx="10280254" cy="461665"/>
          </a:xfrm>
          <a:prstGeom prst="rect">
            <a:avLst/>
          </a:prstGeom>
          <a:noFill/>
        </p:spPr>
        <p:txBody>
          <a:bodyPr wrap="square" rtlCol="0">
            <a:spAutoFit/>
          </a:bodyPr>
          <a:lstStyle/>
          <a:p>
            <a:r>
              <a:rPr lang="en-US" sz="2400" b="1" dirty="0"/>
              <a:t>Domain of  Project – </a:t>
            </a:r>
            <a:r>
              <a:rPr lang="en-IN" sz="2400" b="1" dirty="0"/>
              <a:t>e-commerce</a:t>
            </a:r>
          </a:p>
        </p:txBody>
      </p:sp>
      <p:sp>
        <p:nvSpPr>
          <p:cNvPr id="7" name="TextBox 6">
            <a:extLst>
              <a:ext uri="{FF2B5EF4-FFF2-40B4-BE49-F238E27FC236}">
                <a16:creationId xmlns:a16="http://schemas.microsoft.com/office/drawing/2014/main" id="{3D723CA3-EC2D-165A-F109-3759C4E9C8A4}"/>
              </a:ext>
            </a:extLst>
          </p:cNvPr>
          <p:cNvSpPr txBox="1"/>
          <p:nvPr/>
        </p:nvSpPr>
        <p:spPr>
          <a:xfrm>
            <a:off x="1113069" y="496713"/>
            <a:ext cx="9581177" cy="461665"/>
          </a:xfrm>
          <a:prstGeom prst="rect">
            <a:avLst/>
          </a:prstGeom>
          <a:noFill/>
        </p:spPr>
        <p:txBody>
          <a:bodyPr wrap="square" rtlCol="0">
            <a:spAutoFit/>
          </a:bodyPr>
          <a:lstStyle/>
          <a:p>
            <a:r>
              <a:rPr lang="en-US" sz="2400" b="1" dirty="0"/>
              <a:t>Project </a:t>
            </a:r>
            <a:r>
              <a:rPr lang="en-US" sz="2400" b="1" dirty="0" smtClean="0"/>
              <a:t>Title –</a:t>
            </a:r>
            <a:r>
              <a:rPr lang="en-IN" sz="2400" b="1" dirty="0"/>
              <a:t>Intelligent Shopping Agent</a:t>
            </a:r>
            <a:r>
              <a:rPr lang="en-US" sz="2400" b="1" dirty="0"/>
              <a:t> </a:t>
            </a:r>
            <a:endParaRPr lang="en-IN"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509200"/>
          </a:xfrm>
          <a:prstGeom prst="rect">
            <a:avLst/>
          </a:prstGeom>
          <a:noFill/>
        </p:spPr>
        <p:txBody>
          <a:bodyPr wrap="square" rtlCol="0">
            <a:spAutoFit/>
          </a:bodyPr>
          <a:lstStyle/>
          <a:p>
            <a:pPr fontAlgn="base"/>
            <a:r>
              <a:rPr lang="en-US" sz="1800" b="1" dirty="0">
                <a:latin typeface="Times New Roman" panose="02020603050405020304" pitchFamily="18" charset="0"/>
                <a:cs typeface="Times New Roman" panose="02020603050405020304" pitchFamily="18" charset="0"/>
              </a:rPr>
              <a:t>Problem Statement : </a:t>
            </a:r>
            <a:r>
              <a:rPr lang="en-IN" sz="1800" b="1" dirty="0">
                <a:latin typeface="Times New Roman" panose="02020603050405020304" pitchFamily="18" charset="0"/>
                <a:cs typeface="Times New Roman" panose="02020603050405020304" pitchFamily="18" charset="0"/>
              </a:rPr>
              <a:t>Intelligent Shopping Agent</a:t>
            </a:r>
            <a:endParaRPr lang="en-US" sz="1800" b="1"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The Challenge</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Shoppers today face an overload of product options, scattered reviews, and dynamic pricing across e-commerce platforms. Finding the right product that balances price, quality, and personal preferences is time-consuming and frustrating. Traditional recommendation systems often fail to capture real-time trends, personalized needs, or contextual factors like urgency, budget, or sustainability. The challenge is not just to recommend products but to act as a smart shopping companion that helps buyers make informed and confident decisions.</a:t>
            </a:r>
          </a:p>
          <a:p>
            <a:r>
              <a:rPr lang="en-IN" sz="1800" b="1" dirty="0">
                <a:latin typeface="Times New Roman" panose="02020603050405020304" pitchFamily="18" charset="0"/>
                <a:cs typeface="Times New Roman" panose="02020603050405020304" pitchFamily="18" charset="0"/>
              </a:rPr>
              <a:t>The Objective</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Build an agentic AI shopping assistant that provides intelligent, personalized, and real-time support. The solution should:</a:t>
            </a:r>
          </a:p>
          <a:p>
            <a:pPr lvl="0"/>
            <a:r>
              <a:rPr lang="en-IN" sz="1800" b="1" dirty="0">
                <a:latin typeface="Times New Roman" panose="02020603050405020304" pitchFamily="18" charset="0"/>
                <a:cs typeface="Times New Roman" panose="02020603050405020304" pitchFamily="18" charset="0"/>
              </a:rPr>
              <a:t>Fuse Multisource Data:</a:t>
            </a:r>
            <a:r>
              <a:rPr lang="en-IN" sz="1800" dirty="0">
                <a:latin typeface="Times New Roman" panose="02020603050405020304" pitchFamily="18" charset="0"/>
                <a:cs typeface="Times New Roman" panose="02020603050405020304" pitchFamily="18" charset="0"/>
              </a:rPr>
              <a:t> Aggregate product details, reviews, ratings, and price comparisons across multiple e-commerce sites into unified insights.</a:t>
            </a:r>
          </a:p>
          <a:p>
            <a:pPr lvl="0"/>
            <a:r>
              <a:rPr lang="en-IN" sz="1800" b="1" dirty="0">
                <a:latin typeface="Times New Roman" panose="02020603050405020304" pitchFamily="18" charset="0"/>
                <a:cs typeface="Times New Roman" panose="02020603050405020304" pitchFamily="18" charset="0"/>
              </a:rPr>
              <a:t>Enable Multimodal Search</a:t>
            </a:r>
            <a:r>
              <a:rPr lang="en-IN" sz="1800" dirty="0">
                <a:latin typeface="Times New Roman" panose="02020603050405020304" pitchFamily="18" charset="0"/>
                <a:cs typeface="Times New Roman" panose="02020603050405020304" pitchFamily="18" charset="0"/>
              </a:rPr>
              <a:t>: Allow users to input voice queries, images (e.g., a photo of a product), or text descriptions to find best-matching products.</a:t>
            </a:r>
          </a:p>
          <a:p>
            <a:pPr lvl="0"/>
            <a:r>
              <a:rPr lang="en-IN" sz="1800" b="1" dirty="0">
                <a:latin typeface="Times New Roman" panose="02020603050405020304" pitchFamily="18" charset="0"/>
                <a:cs typeface="Times New Roman" panose="02020603050405020304" pitchFamily="18" charset="0"/>
              </a:rPr>
              <a:t>Create a Predictive &amp; Agentic Layer:</a:t>
            </a:r>
            <a:r>
              <a:rPr lang="en-IN" sz="1800" dirty="0">
                <a:latin typeface="Times New Roman" panose="02020603050405020304" pitchFamily="18" charset="0"/>
                <a:cs typeface="Times New Roman" panose="02020603050405020304" pitchFamily="18" charset="0"/>
              </a:rPr>
              <a:t> Suggest purchase timing (e.g., discounts, seasonal offers), recommend alternatives, and alert users about price drops or fake reviews.</a:t>
            </a:r>
          </a:p>
          <a:p>
            <a:pPr lvl="0"/>
            <a:r>
              <a:rPr lang="en-IN" sz="1800" b="1" dirty="0">
                <a:latin typeface="Times New Roman" panose="02020603050405020304" pitchFamily="18" charset="0"/>
                <a:cs typeface="Times New Roman" panose="02020603050405020304" pitchFamily="18" charset="0"/>
              </a:rPr>
              <a:t>Visualize Smart Shopping Pulse:</a:t>
            </a:r>
            <a:r>
              <a:rPr lang="en-IN" sz="1800" dirty="0">
                <a:latin typeface="Times New Roman" panose="02020603050405020304" pitchFamily="18" charset="0"/>
                <a:cs typeface="Times New Roman" panose="02020603050405020304" pitchFamily="18" charset="0"/>
              </a:rPr>
              <a:t> Provide a dashboard summarizing comparisons, sustainability scores, trending products, and personalized shopping lists.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72775"/>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Problem Statement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
        <p:nvSpPr>
          <p:cNvPr id="7" name="Rectangle 4"/>
          <p:cNvSpPr>
            <a:spLocks noChangeArrowheads="1"/>
          </p:cNvSpPr>
          <p:nvPr/>
        </p:nvSpPr>
        <p:spPr bwMode="auto">
          <a:xfrm>
            <a:off x="451556" y="-3370144"/>
            <a:ext cx="9076265"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Cloud Platform:</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IBM Cloud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Agent Orchestration:</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IBM </a:t>
            </a:r>
            <a:r>
              <a:rPr kumimoji="0" lang="en-US" alt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watsonx</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Orchestrate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AI Services:</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IBM watsonx.ai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Integrations:</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E-commerce APIs, product catalogs, and recommendation services </a:t>
            </a:r>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2739211"/>
          </a:xfrm>
          <a:prstGeom prst="rect">
            <a:avLst/>
          </a:prstGeom>
          <a:noFill/>
        </p:spPr>
        <p:txBody>
          <a:bodyPr wrap="square" rtlCol="0">
            <a:spAutoFit/>
          </a:bodyPr>
          <a:lstStyle/>
          <a:p>
            <a:endParaRPr lang="en-US" sz="1800" dirty="0" smtClean="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Intelligent Shopping Agent</a:t>
            </a:r>
            <a:r>
              <a:rPr lang="en-US" sz="1800" dirty="0">
                <a:latin typeface="Times New Roman" panose="02020603050405020304" pitchFamily="18" charset="0"/>
                <a:cs typeface="Times New Roman" panose="02020603050405020304" pitchFamily="18" charset="0"/>
              </a:rPr>
              <a:t>, built using IBM Cloud and IBM </a:t>
            </a:r>
            <a:r>
              <a:rPr lang="en-US" sz="1800" dirty="0" err="1">
                <a:latin typeface="Times New Roman" panose="02020603050405020304" pitchFamily="18" charset="0"/>
                <a:cs typeface="Times New Roman" panose="02020603050405020304" pitchFamily="18" charset="0"/>
              </a:rPr>
              <a:t>watsonx</a:t>
            </a:r>
            <a:r>
              <a:rPr lang="en-US" sz="1800" dirty="0">
                <a:latin typeface="Times New Roman" panose="02020603050405020304" pitchFamily="18" charset="0"/>
                <a:cs typeface="Times New Roman" panose="02020603050405020304" pitchFamily="18" charset="0"/>
              </a:rPr>
              <a:t> Orchestrate, serves as an AI-powered shopping assistant that helps users discover, compare, and select the most suitable products from multiple e-commerce websites through a conversational interface.</a:t>
            </a:r>
          </a:p>
          <a:p>
            <a:r>
              <a:rPr lang="en-US" sz="1800" dirty="0">
                <a:latin typeface="Times New Roman" panose="02020603050405020304" pitchFamily="18" charset="0"/>
                <a:cs typeface="Times New Roman" panose="02020603050405020304" pitchFamily="18" charset="0"/>
              </a:rPr>
              <a:t>The agent collects user preferences such as product category, budget, brand preferences, desired features, and purchase purpose. It then analyzes product information from various online marketplaces and generates personalized recommendations based on user requirements.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39321"/>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The Intelligent Shopping Agent is an AI-powered assistant designed to help users find, compare, and select the best products from multiple e-commerce platforms. It gathers user preferences such as product category, budget, brand choices, desired features, and purchase purpose, then analyzes available products to provide personalized recommendations. The agent compares products based on price, specifications, ratings, and reviews, helping users identify the most suitable option for their needs. It also suggests alternatives across different price ranges and explains the reasoning behind its recommendations. By offering a conversational and intelligent shopping experience, the agent simplifies product discovery, saves time, and enables users to make informed purchasing decisions with confidence.</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124206"/>
          </a:xfrm>
          <a:prstGeom prst="rect">
            <a:avLst/>
          </a:prstGeom>
          <a:noFill/>
        </p:spPr>
        <p:txBody>
          <a:bodyPr wrap="square" rtlCol="0">
            <a:spAutoFit/>
          </a:bodyPr>
          <a:lstStyle/>
          <a:p>
            <a:pPr marL="285750" indent="-285750">
              <a:buFont typeface="Arial" panose="020B0604020202020204" pitchFamily="34" charset="0"/>
              <a:buChar char="•"/>
            </a:pPr>
            <a:r>
              <a:rPr lang="en-US" sz="1800" dirty="0" smtClean="0"/>
              <a:t>-</a:t>
            </a:r>
            <a:r>
              <a:rPr lang="en-US" sz="1800" b="1" dirty="0" smtClean="0"/>
              <a:t>IBM </a:t>
            </a:r>
            <a:r>
              <a:rPr lang="en-US" sz="1800" b="1" dirty="0" err="1" smtClean="0"/>
              <a:t>Watsonx</a:t>
            </a:r>
            <a:r>
              <a:rPr lang="en-US" sz="1800" b="1" dirty="0" smtClean="0"/>
              <a:t> Orchestrate</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518499"/>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286232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The Intelligent Shopping Agent stands out by combining AI-powered personalization, cross-platform product comparison, and conversational assistance into a single solution. Unlike traditional e-commerce search tools that operate within a single marketplace, this agent analyzes products from multiple online shopping platforms and provides unbiased recommendations tailored to individual user preferences, budget, and requirements. Using IBM Cloud and IBM </a:t>
            </a:r>
            <a:r>
              <a:rPr lang="en-US" sz="1800" dirty="0" err="1">
                <a:latin typeface="Times New Roman" panose="02020603050405020304" pitchFamily="18" charset="0"/>
                <a:cs typeface="Times New Roman" panose="02020603050405020304" pitchFamily="18" charset="0"/>
              </a:rPr>
              <a:t>watsonx</a:t>
            </a:r>
            <a:r>
              <a:rPr lang="en-US" sz="1800" dirty="0">
                <a:latin typeface="Times New Roman" panose="02020603050405020304" pitchFamily="18" charset="0"/>
                <a:cs typeface="Times New Roman" panose="02020603050405020304" pitchFamily="18" charset="0"/>
              </a:rPr>
              <a:t> Orchestrate, the agent understands natural language queries, automatically gathers shopping requirements, compares product features, prices, ratings, and reviews, and explains the reasoning behind its recommendations. Its ability to deliver personalized, real-time decision support through an interactive conversational interface reduces the effort required for product research and enables users to make faster and more informed purchasing decisions. This integration of AI-driven insights, intelligent orchestration, and multi-platform product discovery creates a unique and seamless shopping experience.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796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err="1" smtClean="0">
                <a:solidFill>
                  <a:srgbClr val="2B3541"/>
                </a:solidFill>
                <a:latin typeface="Times New Roman"/>
                <a:ea typeface="Times New Roman"/>
                <a:cs typeface="Times New Roman"/>
                <a:sym typeface="Times New Roman"/>
              </a:rPr>
              <a:t>Github</a:t>
            </a:r>
            <a:r>
              <a:rPr lang="en-US" sz="1850" dirty="0" smtClean="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rPr>
              <a:t>URL </a:t>
            </a:r>
            <a:r>
              <a:rPr lang="en-US" sz="1850" dirty="0">
                <a:solidFill>
                  <a:srgbClr val="2B3541"/>
                </a:solidFill>
                <a:latin typeface="Times New Roman"/>
                <a:ea typeface="Times New Roman"/>
                <a:cs typeface="Times New Roman"/>
                <a:sym typeface="Times New Roman"/>
              </a:rPr>
              <a:t>–https://github.com/saminasha/Intelligent-Shopping-Agent/tree/main</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508001"/>
            <a:ext cx="10515600" cy="677332"/>
          </a:xfrm>
        </p:spPr>
        <p:txBody>
          <a:bodyPr>
            <a:normAutofit/>
          </a:bodyPr>
          <a:lstStyle/>
          <a:p>
            <a:r>
              <a:rPr lang="en-US" sz="4000" dirty="0" smtClean="0">
                <a:latin typeface="+mj-lt"/>
              </a:rPr>
              <a:t>Result</a:t>
            </a:r>
            <a:endParaRPr lang="en-IN" sz="4000" dirty="0">
              <a:latin typeface="+mj-lt"/>
            </a:endParaRPr>
          </a:p>
        </p:txBody>
      </p:sp>
      <p:sp>
        <p:nvSpPr>
          <p:cNvPr id="3" name="Text Placeholder 2"/>
          <p:cNvSpPr>
            <a:spLocks noGrp="1"/>
          </p:cNvSpPr>
          <p:nvPr>
            <p:ph type="body" idx="1"/>
          </p:nvPr>
        </p:nvSpPr>
        <p:spPr>
          <a:xfrm>
            <a:off x="831850" y="1399823"/>
            <a:ext cx="10515600" cy="4689828"/>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733" y="1185333"/>
            <a:ext cx="10972799" cy="5140254"/>
          </a:xfrm>
          <a:prstGeom prst="rect">
            <a:avLst/>
          </a:prstGeom>
        </p:spPr>
      </p:pic>
    </p:spTree>
    <p:extLst>
      <p:ext uri="{BB962C8B-B14F-4D97-AF65-F5344CB8AC3E}">
        <p14:creationId xmlns:p14="http://schemas.microsoft.com/office/powerpoint/2010/main" val="2420144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00" dirty="0">
                <a:latin typeface="Times New Roman" panose="02020603050405020304" pitchFamily="18" charset="0"/>
                <a:cs typeface="Times New Roman" panose="02020603050405020304" pitchFamily="18" charset="0"/>
              </a:rPr>
              <a:t>The Intelligent Shopping Agent has significant potential for future enhancement by expanding its capabilities and integrations. The agent can be improved by connecting with more e-commerce platforms to provide a wider range of product options and real-time price comparisons. Future versions can include AI-based price prediction, discount alerts, personalized shopping profiles, and advanced review analysis to help users make better decisions. Voice-based assistance, multilingual support, and smarter recommendations based on user preferences and shopping history can further improve the user experience. The agent can also integrate features like </a:t>
            </a:r>
            <a:r>
              <a:rPr lang="en-US" sz="1800" dirty="0" err="1">
                <a:latin typeface="Times New Roman" panose="02020603050405020304" pitchFamily="18" charset="0"/>
                <a:cs typeface="Times New Roman" panose="02020603050405020304" pitchFamily="18" charset="0"/>
              </a:rPr>
              <a:t>wishlist</a:t>
            </a:r>
            <a:r>
              <a:rPr lang="en-US" sz="1800" dirty="0">
                <a:latin typeface="Times New Roman" panose="02020603050405020304" pitchFamily="18" charset="0"/>
                <a:cs typeface="Times New Roman" panose="02020603050405020304" pitchFamily="18" charset="0"/>
              </a:rPr>
              <a:t> management, virtual product visualization, and automated shopping assistance, making it a more intelligent, efficient, and personalized shopping </a:t>
            </a:r>
            <a:r>
              <a:rPr lang="en-US" sz="1800" dirty="0" smtClean="0">
                <a:latin typeface="Times New Roman" panose="02020603050405020304" pitchFamily="18" charset="0"/>
                <a:cs typeface="Times New Roman" panose="02020603050405020304" pitchFamily="18" charset="0"/>
              </a:rPr>
              <a:t>solution</a:t>
            </a:r>
            <a:r>
              <a:rPr lang="en-US" sz="1800" dirty="0">
                <a:latin typeface="Times New Roman" panose="02020603050405020304" pitchFamily="18" charset="0"/>
                <a:cs typeface="Times New Roman" panose="02020603050405020304" pitchFamily="18" charset="0"/>
              </a:rPr>
              <a:t>.</a:t>
            </a:r>
            <a:endParaRPr lang="en-US" sz="1800" b="1" i="0" u="none" strike="noStrike" cap="none" dirty="0">
              <a:solidFill>
                <a:srgbClr val="2B3541"/>
              </a:solidFill>
              <a:latin typeface="Times New Roman" panose="02020603050405020304" pitchFamily="18" charset="0"/>
              <a:ea typeface="Times New Roman"/>
              <a:cs typeface="Times New Roman" panose="02020603050405020304" pitchFamily="18" charset="0"/>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1207</TotalTime>
  <Words>887</Words>
  <Application>Microsoft Office PowerPoint</Application>
  <PresentationFormat>Widescreen</PresentationFormat>
  <Paragraphs>79</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67</cp:revision>
  <dcterms:created xsi:type="dcterms:W3CDTF">2025-07-08T05:06:56Z</dcterms:created>
  <dcterms:modified xsi:type="dcterms:W3CDTF">2026-06-17T10:02:09Z</dcterms:modified>
</cp:coreProperties>
</file>